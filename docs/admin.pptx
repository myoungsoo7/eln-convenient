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</p:sldIdLst>
  <p:notesMasterIdLst>
    <p:notesMasterId r:id="rId3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notesMaster" Target="notesMasters/notesMaster1.xml"/><Relationship Id="rId35" Type="http://schemas.openxmlformats.org/officeDocument/2006/relationships/presProps" Target="presProps.xml"/><Relationship Id="rId36" Type="http://schemas.openxmlformats.org/officeDocument/2006/relationships/viewProps" Target="viewProps.xml"/><Relationship Id="rId37" Type="http://schemas.openxmlformats.org/officeDocument/2006/relationships/theme" Target="theme/theme1.xml"/><Relationship Id="rId3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4F7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371600"/>
            <a:ext cx="76809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LabNote ELN</a:t>
            </a:r>
            <a:endParaRPr lang="en-US" sz="3600" dirty="0"/>
          </a:p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운영자 매뉴얼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731520" y="2926080"/>
            <a:ext cx="7680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D6EAF8"/>
                </a:solidFill>
              </a:rPr>
              <a:t>시스템 관리 · 인프라 운영 · 모니터링 가이드 v1.0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731520" y="411480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5A5A6"/>
                </a:solidFill>
              </a:rPr>
              <a:t>LabNote ELN  |  전자연구노트 협업 플랫폼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B4F72"/>
                </a:solidFill>
              </a:rPr>
              <a:t>목차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8229600" cy="0"/>
          </a:xfrm>
          <a:prstGeom prst="line">
            <a:avLst/>
          </a:prstGeom>
          <a:noFill/>
          <a:ln w="25400">
            <a:solidFill>
              <a:srgbClr val="2E86C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1097280"/>
            <a:ext cx="786384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b="1" dirty="0">
                <a:solidFill>
                  <a:srgbClr val="1C1C1E"/>
                </a:solidFill>
              </a:rPr>
              <a:t>1. 시스템 아키텍처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b="1" dirty="0">
                <a:solidFill>
                  <a:srgbClr val="1C1C1E"/>
                </a:solidFill>
              </a:rPr>
              <a:t>2. Docker Compose 운영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b="1" dirty="0">
                <a:solidFill>
                  <a:srgbClr val="1C1C1E"/>
                </a:solidFill>
              </a:rPr>
              <a:t>3. 서비스 포트 및 URL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b="1" dirty="0">
                <a:solidFill>
                  <a:srgbClr val="1C1C1E"/>
                </a:solidFill>
              </a:rPr>
              <a:t>4. 환경변수 설정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b="1" dirty="0">
                <a:solidFill>
                  <a:srgbClr val="1C1C1E"/>
                </a:solidFill>
              </a:rPr>
              <a:t>5. 조직/팀/사용자 관리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b="1" dirty="0">
                <a:solidFill>
                  <a:srgbClr val="1C1C1E"/>
                </a:solidFill>
              </a:rPr>
              <a:t>6. 역할 및 권한 관리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b="1" dirty="0">
                <a:solidFill>
                  <a:srgbClr val="1C1C1E"/>
                </a:solidFill>
              </a:rPr>
              <a:t>7. 데이터베이스 관리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b="1" dirty="0">
                <a:solidFill>
                  <a:srgbClr val="1C1C1E"/>
                </a:solidFill>
              </a:rPr>
              <a:t>8. 모니터링 및 로그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b="1" dirty="0">
                <a:solidFill>
                  <a:srgbClr val="1C1C1E"/>
                </a:solidFill>
              </a:rPr>
              <a:t>9. 백업 및 복구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b="1" dirty="0">
                <a:solidFill>
                  <a:srgbClr val="1C1C1E"/>
                </a:solidFill>
              </a:rPr>
              <a:t>10. 보안 체크리스트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b="1" dirty="0">
                <a:solidFill>
                  <a:srgbClr val="1C1C1E"/>
                </a:solidFill>
              </a:rPr>
              <a:t>11. 트러블슈팅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2C3E5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097280"/>
            <a:ext cx="18288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2E86C1"/>
                </a:solidFill>
              </a:rPr>
              <a:t>01</a:t>
            </a:r>
            <a:endParaRPr lang="en-US" sz="6000" dirty="0"/>
          </a:p>
        </p:txBody>
      </p:sp>
      <p:sp>
        <p:nvSpPr>
          <p:cNvPr id="3" name="Text 1"/>
          <p:cNvSpPr/>
          <p:nvPr/>
        </p:nvSpPr>
        <p:spPr>
          <a:xfrm>
            <a:off x="731520" y="2560320"/>
            <a:ext cx="76809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</a:rPr>
              <a:t>시스템 아키텍처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731520" y="3566160"/>
            <a:ext cx="7680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5A5A6"/>
                </a:solidFill>
              </a:rPr>
              <a:t>MSA 기반 마이크로서비스 구성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B4F72"/>
                </a:solidFill>
              </a:rPr>
              <a:t>전체 아키텍처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8229600" cy="0"/>
          </a:xfrm>
          <a:prstGeom prst="line">
            <a:avLst/>
          </a:prstGeom>
          <a:noFill/>
          <a:ln w="25400">
            <a:solidFill>
              <a:srgbClr val="2E86C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1097280"/>
            <a:ext cx="786384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b="1" dirty="0">
                <a:solidFill>
                  <a:srgbClr val="1C1C1E"/>
                </a:solidFill>
              </a:rPr>
              <a:t>프론트엔드 → API Gateway → 백엔드 마이크로서비스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C1C1E"/>
                </a:solidFill>
              </a:rPr>
              <a:t>React + Vite (포트 5173) → API Gateway (포트 8000) → 9개 백엔드 서비스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b="1" dirty="0">
                <a:solidFill>
                  <a:srgbClr val="1C1C1E"/>
                </a:solidFill>
              </a:rPr>
              <a:t>백엔드 서비스 (모두 Fastify + TypeScript + Prisma)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C1C1E"/>
                </a:solidFill>
              </a:rPr>
              <a:t>auth-service (8001): 인증, 조직, 팀, 사용자, RBAC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C1C1E"/>
                </a:solidFill>
              </a:rPr>
              <a:t>eln-service (8002): 연구노트, 프로토콜, 템플릿, 리비전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C1C1E"/>
                </a:solidFill>
              </a:rPr>
              <a:t>signature-audit-service (8003): 전자서명, 감사로그, PDF/ZIP 내보내기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C1C1E"/>
                </a:solidFill>
              </a:rPr>
              <a:t>inventory-service (8004): 시약/샘플/장비 CRUD, 수량, 바코드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C1C1E"/>
                </a:solidFill>
              </a:rPr>
              <a:t>scheduler-service (8005): 장비/회의실 예약, 승인/거절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C1C1E"/>
                </a:solidFill>
              </a:rPr>
              <a:t>search-service (8006): OpenSearch 통합검색, 자동완성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C1C1E"/>
                </a:solidFill>
              </a:rPr>
              <a:t>file-service (8008): 파일 업/다운로드, MinIO 연동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C1C1E"/>
                </a:solidFill>
              </a:rPr>
              <a:t>collab-service (8009): WebSocket 실시간 협업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B4F72"/>
                </a:solidFill>
              </a:rPr>
              <a:t>인프라 구성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8229600" cy="0"/>
          </a:xfrm>
          <a:prstGeom prst="line">
            <a:avLst/>
          </a:prstGeom>
          <a:noFill/>
          <a:ln w="25400">
            <a:solidFill>
              <a:srgbClr val="2E86C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1097280"/>
            <a:ext cx="786384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b="1" dirty="0">
                <a:solidFill>
                  <a:srgbClr val="1C1C1E"/>
                </a:solidFill>
              </a:rPr>
              <a:t>데이터베이스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C1C1E"/>
                </a:solidFill>
              </a:rPr>
              <a:t>PostgreSQL 15 — 단일 인스턴스, 서비스별 스키마 분리 (auth, eln, signature, inventory, scheduler, search, file)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b="1" dirty="0">
                <a:solidFill>
                  <a:srgbClr val="1C1C1E"/>
                </a:solidFill>
              </a:rPr>
              <a:t>캐시 / 메시징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C1C1E"/>
                </a:solidFill>
              </a:rPr>
              <a:t>Redis 7 — 세션, 캐시, Pub/Sub, BullMQ 잡 큐, 토큰 블랙리스트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b="1" dirty="0">
                <a:solidFill>
                  <a:srgbClr val="1C1C1E"/>
                </a:solidFill>
              </a:rPr>
              <a:t>파일 스토리지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C1C1E"/>
                </a:solidFill>
              </a:rPr>
              <a:t>MinIO (S3 호환) — labnote-files (첨부파일), labnote-exports (내보내기)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b="1" dirty="0">
                <a:solidFill>
                  <a:srgbClr val="1C1C1E"/>
                </a:solidFill>
              </a:rPr>
              <a:t>검색 엔진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C1C1E"/>
                </a:solidFill>
              </a:rPr>
              <a:t>OpenSearch 2 + nori 한국어 분석기 — 단일 통합 인덱스 (lab_search_v1)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b="1" dirty="0">
                <a:solidFill>
                  <a:srgbClr val="1C1C1E"/>
                </a:solidFill>
              </a:rPr>
              <a:t>모니터링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C1C1E"/>
                </a:solidFill>
              </a:rPr>
              <a:t>Jaeger (분산 트레이싱), Dozzle (실시간 로그 뷰어)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2C3E5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097280"/>
            <a:ext cx="18288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2E86C1"/>
                </a:solidFill>
              </a:rPr>
              <a:t>02</a:t>
            </a:r>
            <a:endParaRPr lang="en-US" sz="6000" dirty="0"/>
          </a:p>
        </p:txBody>
      </p:sp>
      <p:sp>
        <p:nvSpPr>
          <p:cNvPr id="3" name="Text 1"/>
          <p:cNvSpPr/>
          <p:nvPr/>
        </p:nvSpPr>
        <p:spPr>
          <a:xfrm>
            <a:off x="731520" y="2560320"/>
            <a:ext cx="76809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</a:rPr>
              <a:t>Docker Compose 운영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731520" y="3566160"/>
            <a:ext cx="7680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5A5A6"/>
                </a:solidFill>
              </a:rPr>
              <a:t>서비스 기동, 빌드, 관리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B4F72"/>
                </a:solidFill>
              </a:rPr>
              <a:t>Docker Compose 명령어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8229600" cy="0"/>
          </a:xfrm>
          <a:prstGeom prst="line">
            <a:avLst/>
          </a:prstGeom>
          <a:noFill/>
          <a:ln w="25400">
            <a:solidFill>
              <a:srgbClr val="2E86C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1097280"/>
            <a:ext cx="786384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b="1" dirty="0">
                <a:solidFill>
                  <a:srgbClr val="1C1C1E"/>
                </a:solidFill>
              </a:rPr>
              <a:t>기본 명령어 (services/ 디렉토리에서 실행)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C1C1E"/>
                </a:solidFill>
              </a:rPr>
              <a:t>docker compose up -d                          — 전체 서비스 기동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C1C1E"/>
                </a:solidFill>
              </a:rPr>
              <a:t>docker compose up -d --build                  — 전체 빌드 후 기동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C1C1E"/>
                </a:solidFill>
              </a:rPr>
              <a:t>docker compose up -d --build &lt;서비스명&gt;       — 특정 서비스만 빌드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C1C1E"/>
                </a:solidFill>
              </a:rPr>
              <a:t>docker compose down                           — 전체 서비스 중지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C1C1E"/>
                </a:solidFill>
              </a:rPr>
              <a:t>docker compose logs -f &lt;컨테이너명&gt;           — 실시간 로그 확인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C1C1E"/>
                </a:solidFill>
              </a:rPr>
              <a:t>docker compose ps                             — 서비스 상태 확인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b="1" dirty="0">
                <a:solidFill>
                  <a:srgbClr val="1C1C1E"/>
                </a:solidFill>
              </a:rPr>
              <a:t>서비스 재시작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C1C1E"/>
                </a:solidFill>
              </a:rPr>
              <a:t>docker compose restart &lt;서비스명&gt;             — 서비스 재시작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C1C1E"/>
                </a:solidFill>
              </a:rPr>
              <a:t>docker compose stop &lt;서비스명&gt;                — 서비스 중지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b="1" dirty="0">
                <a:solidFill>
                  <a:srgbClr val="E74C3C"/>
                </a:solidFill>
              </a:rPr>
              <a:t>주의사항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C1C1E"/>
                </a:solidFill>
              </a:rPr>
              <a:t>백엔드 코드 수정 후에는 반드시 --build 옵션으로 재빌드 필요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C1C1E"/>
                </a:solidFill>
              </a:rPr>
              <a:t>프론트엔드는 Vite HMR로 자동 반영 (빌드 불필요)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2C3E5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097280"/>
            <a:ext cx="18288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2E86C1"/>
                </a:solidFill>
              </a:rPr>
              <a:t>03</a:t>
            </a:r>
            <a:endParaRPr lang="en-US" sz="6000" dirty="0"/>
          </a:p>
        </p:txBody>
      </p:sp>
      <p:sp>
        <p:nvSpPr>
          <p:cNvPr id="3" name="Text 1"/>
          <p:cNvSpPr/>
          <p:nvPr/>
        </p:nvSpPr>
        <p:spPr>
          <a:xfrm>
            <a:off x="731520" y="2560320"/>
            <a:ext cx="76809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</a:rPr>
              <a:t>서비스 포트 및 URL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731520" y="3566160"/>
            <a:ext cx="7680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5A5A6"/>
                </a:solidFill>
              </a:rPr>
              <a:t>각 서비스 접속 정보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B4F72"/>
                </a:solidFill>
              </a:rPr>
              <a:t>서비스 포트 맵</a:t>
            </a:r>
            <a:endParaRPr lang="en-US" sz="22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1005840"/>
          <a:ext cx="8595360" cy="914400"/>
        </p:xfrm>
        <a:graphic>
          <a:graphicData uri="http://schemas.openxmlformats.org/drawingml/2006/table">
            <a:tbl>
              <a:tblPr/>
              <a:tblGrid>
                <a:gridCol w="2148840"/>
                <a:gridCol w="2148840"/>
                <a:gridCol w="2148840"/>
                <a:gridCol w="2148840"/>
              </a:tblGrid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서비스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5A5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5A5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5A5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5A5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F7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포트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5A5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5A5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5A5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5A5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F7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URL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5A5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5A5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5A5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5A5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F7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용도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5A5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5A5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5A5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5A5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F7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API Gateway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5A5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5A5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5A5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5A5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8000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5A5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5A5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5A5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5A5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http://localhost:8000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5A5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5A5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5A5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5A5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REST API 진입점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5A5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5A5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5A5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5A5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auth-service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5A5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5A5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5A5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5A5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8001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5A5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5A5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5A5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5A5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(Docker 내부)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5A5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5A5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5A5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5A5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인증/사용자/조직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5A5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5A5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5A5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5A5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eln-service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5A5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5A5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5A5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5A5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8002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5A5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5A5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5A5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5A5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(Docker 내부)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5A5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5A5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5A5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5A5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연구노트/템플릿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5A5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5A5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5A5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5A5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signature-audit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5A5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5A5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5A5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5A5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8003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5A5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5A5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5A5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5A5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(Docker 내부)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5A5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5A5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5A5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5A5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전자서명/감사로그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5A5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5A5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5A5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5A5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inventory-service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5A5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5A5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5A5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5A5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8004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5A5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5A5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5A5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5A5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(Docker 내부)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5A5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5A5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5A5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5A5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인벤토리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5A5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5A5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5A5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5A5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scheduler-service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5A5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5A5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5A5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5A5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8005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5A5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5A5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5A5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5A5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(Docker 내부)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5A5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5A5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5A5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5A5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예약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5A5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5A5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5A5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5A5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search-service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5A5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5A5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5A5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5A5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8006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5A5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5A5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5A5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5A5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(Docker 내부)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5A5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5A5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5A5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5A5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통합검색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5A5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5A5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5A5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5A5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file-service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5A5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5A5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5A5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5A5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8008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5A5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5A5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5A5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5A5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(Docker 내부)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5A5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5A5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5A5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5A5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파일 관리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5A5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5A5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5A5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5A5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collab-service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5A5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5A5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5A5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5A5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8009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5A5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5A5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5A5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5A5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(Docker 내부)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5A5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5A5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5A5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5A5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WebSocket 협업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5A5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5A5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5A5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5A5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B4F72"/>
                </a:solidFill>
              </a:rPr>
              <a:t>인프라/모니터링 URL</a:t>
            </a:r>
            <a:endParaRPr lang="en-US" sz="22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1005840"/>
          <a:ext cx="8595360" cy="914400"/>
        </p:xfrm>
        <a:graphic>
          <a:graphicData uri="http://schemas.openxmlformats.org/drawingml/2006/table">
            <a:tbl>
              <a:tblPr/>
              <a:tblGrid>
                <a:gridCol w="2865120"/>
                <a:gridCol w="2865120"/>
                <a:gridCol w="2865120"/>
              </a:tblGrid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서비스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5A5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5A5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5A5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5A5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F7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URL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5A5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5A5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5A5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5A5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F7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용도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5A5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5A5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5A5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5A5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F7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메인 프론트엔드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5A5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5A5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5A5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5A5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http://localhost:5173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5A5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5A5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5A5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5A5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개발 서버 (Vite)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5A5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5A5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5A5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5A5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인벤토리 프론트엔드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5A5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5A5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5A5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5A5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http://localhost:3000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5A5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5A5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5A5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5A5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React SPA (Nginx)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5A5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5A5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5A5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5A5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Jaeger UI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5A5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5A5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5A5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5A5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http://localhost:16686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5A5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5A5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5A5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5A5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분산 트레이싱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5A5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5A5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5A5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5A5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Dozzle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5A5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5A5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5A5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5A5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http://localhost:9999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5A5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5A5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5A5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5A5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실시간 Docker 로그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5A5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5A5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5A5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5A5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MinIO Console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5A5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5A5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5A5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5A5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http://localhost:9001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5A5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5A5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5A5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5A5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파일 스토리지 관리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5A5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5A5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5A5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5A5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PostgreSQL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5A5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5A5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5A5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5A5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localhost:5432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5A5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5A5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5A5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5A5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DB 접속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5A5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5A5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5A5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5A5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Redis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5A5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5A5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5A5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5A5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localhost:6379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5A5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5A5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5A5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5A5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캐시/세션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5A5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5A5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5A5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5A5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OpenSearch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5A5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5A5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5A5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5A5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http://localhost:9200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5A5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5A5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5A5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5A5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검색 엔진 API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5A5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5A5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5A5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5A5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2C3E5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097280"/>
            <a:ext cx="18288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2E86C1"/>
                </a:solidFill>
              </a:rPr>
              <a:t>04</a:t>
            </a:r>
            <a:endParaRPr lang="en-US" sz="6000" dirty="0"/>
          </a:p>
        </p:txBody>
      </p:sp>
      <p:sp>
        <p:nvSpPr>
          <p:cNvPr id="3" name="Text 1"/>
          <p:cNvSpPr/>
          <p:nvPr/>
        </p:nvSpPr>
        <p:spPr>
          <a:xfrm>
            <a:off x="731520" y="2560320"/>
            <a:ext cx="76809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</a:rPr>
              <a:t>환경변수 설정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731520" y="3566160"/>
            <a:ext cx="7680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5A5A6"/>
                </a:solidFill>
              </a:rPr>
              <a:t>필수 환경변수 및 보안 설정</a:t>
            </a:r>
            <a:endParaRPr lang="en-US" sz="14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B4F72"/>
                </a:solidFill>
              </a:rPr>
              <a:t>필수 환경변수</a:t>
            </a:r>
            <a:endParaRPr lang="en-US" sz="22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1005840"/>
          <a:ext cx="8595360" cy="914400"/>
        </p:xfrm>
        <a:graphic>
          <a:graphicData uri="http://schemas.openxmlformats.org/drawingml/2006/table">
            <a:tbl>
              <a:tblPr/>
              <a:tblGrid>
                <a:gridCol w="2865120"/>
                <a:gridCol w="2865120"/>
                <a:gridCol w="2865120"/>
              </a:tblGrid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변수명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5A5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5A5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5A5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5A5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F7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기본값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5A5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5A5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5A5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5A5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F7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설명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5A5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5A5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5A5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5A5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F7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POSTGRES_USER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5A5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5A5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5A5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5A5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(필수)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5A5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5A5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5A5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5A5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PostgreSQL 사용자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5A5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5A5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5A5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5A5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POSTGRES_PASSWORD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5A5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5A5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5A5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5A5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(필수)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5A5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5A5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5A5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5A5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PostgreSQL 비밀번호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5A5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5A5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5A5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5A5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POSTGRES_DB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5A5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5A5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5A5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5A5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labnote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5A5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5A5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5A5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5A5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데이터베이스명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5A5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5A5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5A5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5A5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JWT_SECRET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5A5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5A5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5A5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5A5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(필수)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5A5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5A5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5A5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5A5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JWT 서명 키 (운영 시 변경 필수)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5A5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5A5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5A5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5A5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INTERNAL_SECRET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5A5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5A5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5A5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5A5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(필수)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5A5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5A5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5A5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5A5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서비스 간 내부 인증 키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5A5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5A5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5A5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5A5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MINIO_ROOT_USER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5A5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5A5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5A5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5A5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(필수)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5A5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5A5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5A5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5A5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MinIO 관리자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5A5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5A5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5A5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5A5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MINIO_ROOT_PASSWORD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5A5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5A5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5A5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5A5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(필수)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5A5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5A5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5A5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5A5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MinIO 비밀번호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5A5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5A5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5A5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5A5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ADMIN_INITIAL_PASSWORD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5A5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5A5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5A5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5A5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Admin1234!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5A5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5A5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5A5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5A5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초기 관리자 비밀번호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5A5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5A5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5A5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5A5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CORS_ORIGIN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5A5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5A5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5A5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5A5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http://localhost:3000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5A5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5A5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5A5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5A5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허용 CORS 도메인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5A5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5A5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5A5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5A5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B4F72"/>
                </a:solidFill>
              </a:rPr>
              <a:t>환경변수 보안 주의사항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8229600" cy="0"/>
          </a:xfrm>
          <a:prstGeom prst="line">
            <a:avLst/>
          </a:prstGeom>
          <a:noFill/>
          <a:ln w="25400">
            <a:solidFill>
              <a:srgbClr val="2E86C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1097280"/>
            <a:ext cx="786384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b="1" dirty="0">
                <a:solidFill>
                  <a:srgbClr val="E74C3C"/>
                </a:solidFill>
              </a:rPr>
              <a:t>운영 환경 필수 변경 항목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C1C1E"/>
                </a:solidFill>
              </a:rPr>
              <a:t>JWT_SECRET: openssl rand -base64 32 로 생성한 강력한 키 사용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C1C1E"/>
                </a:solidFill>
              </a:rPr>
              <a:t>INTERNAL_SECRET: 서비스 간 통신 인증 — 유추 불가한 값 사용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C1C1E"/>
                </a:solidFill>
              </a:rPr>
              <a:t>ADMIN_INITIAL_PASSWORD: 초기 설정 후 즉시 변경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C1C1E"/>
                </a:solidFill>
              </a:rPr>
              <a:t>MINIO_ROOT_PASSWORD: 16자 이상 권장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b="1" dirty="0">
                <a:solidFill>
                  <a:srgbClr val="1C1C1E"/>
                </a:solidFill>
              </a:rPr>
              <a:t>.env 파일 관리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C1C1E"/>
                </a:solidFill>
              </a:rPr>
              <a:t>.env 파일은 절대 Git에 커밋하지 않을 것 (.gitignore에 포함)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C1C1E"/>
                </a:solidFill>
              </a:rPr>
              <a:t>운영 환경에서는 Docker secrets 또는 Vault 사용 권장</a:t>
            </a:r>
            <a:endParaRPr lang="en-US" sz="14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2C3E5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097280"/>
            <a:ext cx="18288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2E86C1"/>
                </a:solidFill>
              </a:rPr>
              <a:t>05</a:t>
            </a:r>
            <a:endParaRPr lang="en-US" sz="6000" dirty="0"/>
          </a:p>
        </p:txBody>
      </p:sp>
      <p:sp>
        <p:nvSpPr>
          <p:cNvPr id="3" name="Text 1"/>
          <p:cNvSpPr/>
          <p:nvPr/>
        </p:nvSpPr>
        <p:spPr>
          <a:xfrm>
            <a:off x="731520" y="2560320"/>
            <a:ext cx="76809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</a:rPr>
              <a:t>조직/팀/사용자 관리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731520" y="3566160"/>
            <a:ext cx="7680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5A5A6"/>
                </a:solidFill>
              </a:rPr>
              <a:t>Admin 전용 관리 기능</a:t>
            </a:r>
            <a:endParaRPr lang="en-US" sz="14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B4F72"/>
                </a:solidFill>
              </a:rPr>
              <a:t>조직 관리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8229600" cy="0"/>
          </a:xfrm>
          <a:prstGeom prst="line">
            <a:avLst/>
          </a:prstGeom>
          <a:noFill/>
          <a:ln w="25400">
            <a:solidFill>
              <a:srgbClr val="2E86C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1097280"/>
            <a:ext cx="786384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b="1" dirty="0">
                <a:solidFill>
                  <a:srgbClr val="1C1C1E"/>
                </a:solidFill>
              </a:rPr>
              <a:t>메뉴: 관리 → 조직/팀/사용자 → 조직 탭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b="1" dirty="0">
                <a:solidFill>
                  <a:srgbClr val="1C1C1E"/>
                </a:solidFill>
              </a:rPr>
              <a:t>조직 생성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C1C1E"/>
                </a:solidFill>
              </a:rPr>
              <a:t>이름, Slug(고유 식별자) 입력 → 생성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C1C1E"/>
                </a:solidFill>
              </a:rPr>
              <a:t>Slug는 중복 불가 (URL 경로에 사용)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b="1" dirty="0">
                <a:solidFill>
                  <a:srgbClr val="1C1C1E"/>
                </a:solidFill>
              </a:rPr>
              <a:t>조직 삭제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C1C1E"/>
                </a:solidFill>
              </a:rPr>
              <a:t>소속 사용자가 1명이라도 있으면 삭제 불가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C1C1E"/>
                </a:solidFill>
              </a:rPr>
              <a:t>먼저 모든 사용자를 다른 조직으로 이동 또는 삭제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b="1" dirty="0">
                <a:solidFill>
                  <a:srgbClr val="2E86C1"/>
                </a:solidFill>
              </a:rPr>
              <a:t>멀티테넌시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C1C1E"/>
                </a:solidFill>
              </a:rPr>
              <a:t>모든 데이터는 조직(orgId) 단위로 완전히 격리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C1C1E"/>
                </a:solidFill>
              </a:rPr>
              <a:t>사용자는 자기 조직 데이터만 접근 가능</a:t>
            </a:r>
            <a:endParaRPr lang="en-US" sz="14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B4F72"/>
                </a:solidFill>
              </a:rPr>
              <a:t>사용자 / 팀 관리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8229600" cy="0"/>
          </a:xfrm>
          <a:prstGeom prst="line">
            <a:avLst/>
          </a:prstGeom>
          <a:noFill/>
          <a:ln w="25400">
            <a:solidFill>
              <a:srgbClr val="2E86C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1097280"/>
            <a:ext cx="786384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b="1" dirty="0">
                <a:solidFill>
                  <a:srgbClr val="1C1C1E"/>
                </a:solidFill>
              </a:rPr>
              <a:t>사용자 관리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C1C1E"/>
                </a:solidFill>
              </a:rPr>
              <a:t>사용자 목록 조회, 역할 변경, 상태 변경(active/inactive)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C1C1E"/>
                </a:solidFill>
              </a:rPr>
              <a:t>역할 변경 시 해당 사용자의 모든 토큰 즉시 무효화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C1C1E"/>
                </a:solidFill>
              </a:rPr>
              <a:t>자기 자신 삭제 불가 (안전장치)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b="1" dirty="0">
                <a:solidFill>
                  <a:srgbClr val="1C1C1E"/>
                </a:solidFill>
              </a:rPr>
              <a:t>팀 관리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C1C1E"/>
                </a:solidFill>
              </a:rPr>
              <a:t>팀 생성 → 멤버 추가/제거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C1C1E"/>
                </a:solidFill>
              </a:rPr>
              <a:t>팀 소속 노트는 팀원만 조회 가능 (팀 가시성)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C1C1E"/>
                </a:solidFill>
              </a:rPr>
              <a:t>중복 멤버 추가 차단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b="1" dirty="0">
                <a:solidFill>
                  <a:srgbClr val="1C1C1E"/>
                </a:solidFill>
              </a:rPr>
              <a:t>팀 가시성 규칙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C1C1E"/>
                </a:solidFill>
              </a:rPr>
              <a:t>Admin: 모든 노트 조회 가능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C1C1E"/>
                </a:solidFill>
              </a:rPr>
              <a:t>일반 사용자: 내 노트 + 내 팀 노트 + teamId=null 노트만 조회</a:t>
            </a:r>
            <a:endParaRPr lang="en-US" sz="14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2C3E5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097280"/>
            <a:ext cx="18288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2E86C1"/>
                </a:solidFill>
              </a:rPr>
              <a:t>06</a:t>
            </a:r>
            <a:endParaRPr lang="en-US" sz="6000" dirty="0"/>
          </a:p>
        </p:txBody>
      </p:sp>
      <p:sp>
        <p:nvSpPr>
          <p:cNvPr id="3" name="Text 1"/>
          <p:cNvSpPr/>
          <p:nvPr/>
        </p:nvSpPr>
        <p:spPr>
          <a:xfrm>
            <a:off x="731520" y="2560320"/>
            <a:ext cx="76809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</a:rPr>
              <a:t>역할 및 권한 관리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731520" y="3566160"/>
            <a:ext cx="7680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5A5A6"/>
                </a:solidFill>
              </a:rPr>
              <a:t>RBAC 기반 접근 제어</a:t>
            </a:r>
            <a:endParaRPr lang="en-US" sz="14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B4F72"/>
                </a:solidFill>
              </a:rPr>
              <a:t>기본 역할 및 권한</a:t>
            </a:r>
            <a:endParaRPr lang="en-US" sz="2200" dirty="0"/>
          </a:p>
        </p:txBody>
      </p:sp>
      <p:graphicFrame>
        <p:nvGraphicFramePr>
          <p:cNvPr id="1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1005840"/>
          <a:ext cx="8595360" cy="914400"/>
        </p:xfrm>
        <a:graphic>
          <a:graphicData uri="http://schemas.openxmlformats.org/drawingml/2006/table">
            <a:tbl>
              <a:tblPr/>
              <a:tblGrid>
                <a:gridCol w="2865120"/>
                <a:gridCol w="2865120"/>
                <a:gridCol w="2865120"/>
              </a:tblGrid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역할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5A5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5A5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5A5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5A5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F7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주요 권한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5A5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5A5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5A5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5A5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F7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설명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5A5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5A5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5A5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5A5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F7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admin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5A5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5A5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5A5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5A5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note:*, template:*, inventory:*, scheduler:*, audit:*, admin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5A5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5A5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5A5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5A5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전체 관리자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5A5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5A5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5A5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5A5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reviewer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5A5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5A5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5A5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5A5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note:read/write/sign, template:*, inventory:read, scheduler:*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5A5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5A5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5A5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5A5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검토자 — 서명 가능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5A5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5A5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5A5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5A5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researcher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5A5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5A5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5A5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5A5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note:read/write, template:read, inventory:read/write, scheduler:*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5A5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5A5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5A5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5A5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연구원 — 서명 불가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5A5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5A5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5A5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5A5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viewer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5A5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5A5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5A5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5A5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note:read, template:read, inventory:read, scheduler:read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5A5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5A5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5A5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5A5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열람자 — 읽기 전용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5A5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5A5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5A5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5A5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B4F72"/>
                </a:solidFill>
              </a:rPr>
              <a:t>권한 관리 상세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8229600" cy="0"/>
          </a:xfrm>
          <a:prstGeom prst="line">
            <a:avLst/>
          </a:prstGeom>
          <a:noFill/>
          <a:ln w="25400">
            <a:solidFill>
              <a:srgbClr val="2E86C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1097280"/>
            <a:ext cx="786384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b="1" dirty="0">
                <a:solidFill>
                  <a:srgbClr val="1C1C1E"/>
                </a:solidFill>
              </a:rPr>
              <a:t>역할 생성/수정: 관리 → 역할 관리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C1C1E"/>
                </a:solidFill>
              </a:rPr>
              <a:t>허용 역할명: admin, researcher, reviewer, viewer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C1C1E"/>
                </a:solidFill>
              </a:rPr>
              <a:t>비허용 역할명(superadmin 등) 생성 시 400 에러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b="1" dirty="0">
                <a:solidFill>
                  <a:srgbClr val="E74C3C"/>
                </a:solidFill>
              </a:rPr>
              <a:t>권한 변경 시 보안 동작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C1C1E"/>
                </a:solidFill>
              </a:rPr>
              <a:t>역할 권한 수정 → 해당 역할 전체 사용자 토큰 즉시 무효화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C1C1E"/>
                </a:solidFill>
              </a:rPr>
              <a:t>사용자 역할 변경 → 해당 사용자 토큰 즉시 무효화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C1C1E"/>
                </a:solidFill>
              </a:rPr>
              <a:t>재로그인 시 새 권한이 적용된 토큰 발급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b="1" dirty="0">
                <a:solidFill>
                  <a:srgbClr val="1C1C1E"/>
                </a:solidFill>
              </a:rPr>
              <a:t>사용자가 있는 역할은 삭제 불가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C1C1E"/>
                </a:solidFill>
              </a:rPr>
              <a:t>먼저 소속 사용자를 다른 역할로 변경한 후 삭제</a:t>
            </a:r>
            <a:endParaRPr lang="en-US" sz="14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2C3E5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097280"/>
            <a:ext cx="18288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2E86C1"/>
                </a:solidFill>
              </a:rPr>
              <a:t>07</a:t>
            </a:r>
            <a:endParaRPr lang="en-US" sz="6000" dirty="0"/>
          </a:p>
        </p:txBody>
      </p:sp>
      <p:sp>
        <p:nvSpPr>
          <p:cNvPr id="3" name="Text 1"/>
          <p:cNvSpPr/>
          <p:nvPr/>
        </p:nvSpPr>
        <p:spPr>
          <a:xfrm>
            <a:off x="731520" y="2560320"/>
            <a:ext cx="76809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</a:rPr>
              <a:t>데이터베이스 관리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731520" y="3566160"/>
            <a:ext cx="7680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5A5A6"/>
                </a:solidFill>
              </a:rPr>
              <a:t>Prisma + PostgreSQL 운영</a:t>
            </a:r>
            <a:endParaRPr lang="en-US" sz="14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B4F72"/>
                </a:solidFill>
              </a:rPr>
              <a:t>Prisma / PostgreSQL 운영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8229600" cy="0"/>
          </a:xfrm>
          <a:prstGeom prst="line">
            <a:avLst/>
          </a:prstGeom>
          <a:noFill/>
          <a:ln w="25400">
            <a:solidFill>
              <a:srgbClr val="2E86C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1097280"/>
            <a:ext cx="786384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b="1" dirty="0">
                <a:solidFill>
                  <a:srgbClr val="1C1C1E"/>
                </a:solidFill>
              </a:rPr>
              <a:t>스키마 구조 (단일 DB, 서비스별 스키마)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C1C1E"/>
                </a:solidFill>
              </a:rPr>
              <a:t>auth: Organization, Role, User, Team, TeamMember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C1C1E"/>
                </a:solidFill>
              </a:rPr>
              <a:t>eln: Note, NoteRevision, NoteLink, Attachment, Template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C1C1E"/>
                </a:solidFill>
              </a:rPr>
              <a:t>signature: Signature(해시체인), AuditLog, ExportJob, Notification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C1C1E"/>
                </a:solidFill>
              </a:rPr>
              <a:t>inventory: InventoryItem, InventoryHistory, Category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C1C1E"/>
                </a:solidFill>
              </a:rPr>
              <a:t>scheduler: Resource, Booking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b="1" dirty="0">
                <a:solidFill>
                  <a:srgbClr val="1C1C1E"/>
                </a:solidFill>
              </a:rPr>
              <a:t>Prisma 명령어 (컨테이너 내부)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C1C1E"/>
                </a:solidFill>
              </a:rPr>
              <a:t>docker exec &lt;컨테이너&gt; npx prisma migrate deploy  — 마이그레이션 적용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C1C1E"/>
                </a:solidFill>
              </a:rPr>
              <a:t>docker exec &lt;컨테이너&gt; npx prisma db seed          — 시드 데이터 삽입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C1C1E"/>
                </a:solidFill>
              </a:rPr>
              <a:t>docker exec &lt;컨테이너&gt; npx prisma studio            — DB GUI (포트 포워딩 필요)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b="1" dirty="0">
                <a:solidFill>
                  <a:srgbClr val="E74C3C"/>
                </a:solidFill>
              </a:rPr>
              <a:t>주의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C1C1E"/>
                </a:solidFill>
              </a:rPr>
              <a:t>check_note_status_transition() DB 트리거 삭제/수정 금지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C1C1E"/>
                </a:solidFill>
              </a:rPr>
              <a:t>$queryRawUnsafe 사용 금지 (SQL 인젝션 방지)</a:t>
            </a:r>
            <a:endParaRPr lang="en-US" sz="14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2C3E5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097280"/>
            <a:ext cx="18288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2E86C1"/>
                </a:solidFill>
              </a:rPr>
              <a:t>08</a:t>
            </a:r>
            <a:endParaRPr lang="en-US" sz="6000" dirty="0"/>
          </a:p>
        </p:txBody>
      </p:sp>
      <p:sp>
        <p:nvSpPr>
          <p:cNvPr id="3" name="Text 1"/>
          <p:cNvSpPr/>
          <p:nvPr/>
        </p:nvSpPr>
        <p:spPr>
          <a:xfrm>
            <a:off x="731520" y="2560320"/>
            <a:ext cx="76809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</a:rPr>
              <a:t>모니터링 및 로그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731520" y="3566160"/>
            <a:ext cx="7680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5A5A6"/>
                </a:solidFill>
              </a:rPr>
              <a:t>Jaeger, Dozzle, 헬스체크</a:t>
            </a:r>
            <a:endParaRPr lang="en-US" sz="14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B4F72"/>
                </a:solidFill>
              </a:rPr>
              <a:t>모니터링 도구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8229600" cy="0"/>
          </a:xfrm>
          <a:prstGeom prst="line">
            <a:avLst/>
          </a:prstGeom>
          <a:noFill/>
          <a:ln w="25400">
            <a:solidFill>
              <a:srgbClr val="2E86C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1097280"/>
            <a:ext cx="786384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b="1" dirty="0">
                <a:solidFill>
                  <a:srgbClr val="1C1C1E"/>
                </a:solidFill>
              </a:rPr>
              <a:t>Jaeger — 분산 트레이싱 (http://localhost:16686)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C1C1E"/>
                </a:solidFill>
              </a:rPr>
              <a:t>모든 서비스의 API 호출 추적 (OpenTelemetry)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C1C1E"/>
                </a:solidFill>
              </a:rPr>
              <a:t>요청별 소요 시간, 서비스 간 호출 체인 시각화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C1C1E"/>
                </a:solidFill>
              </a:rPr>
              <a:t>느린 API 식별, 에러 추적에 활용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b="1" dirty="0">
                <a:solidFill>
                  <a:srgbClr val="1C1C1E"/>
                </a:solidFill>
              </a:rPr>
              <a:t>Dozzle — 실시간 로그 (http://localhost:9999)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C1C1E"/>
                </a:solidFill>
              </a:rPr>
              <a:t>모든 Docker 컨테이너 로그를 웹에서 실시간 조회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C1C1E"/>
                </a:solidFill>
              </a:rPr>
              <a:t>서비스별 필터링, 검색 기능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b="1" dirty="0">
                <a:solidFill>
                  <a:srgbClr val="1C1C1E"/>
                </a:solidFill>
              </a:rPr>
              <a:t>헬스체크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C1C1E"/>
                </a:solidFill>
              </a:rPr>
              <a:t>모든 서비스: GET /health → { status: "ok", service, db }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C1C1E"/>
                </a:solidFill>
              </a:rPr>
              <a:t>Docker healthcheck: 10초 간격, 5초 타임아웃, 5회 재시도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C1C1E"/>
                </a:solidFill>
              </a:rPr>
              <a:t>docker compose ps 로 healthy/unhealthy 상태 확인</a:t>
            </a:r>
            <a:endParaRPr lang="en-US" sz="14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B4F72"/>
                </a:solidFill>
              </a:rPr>
              <a:t>로그 관리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8229600" cy="0"/>
          </a:xfrm>
          <a:prstGeom prst="line">
            <a:avLst/>
          </a:prstGeom>
          <a:noFill/>
          <a:ln w="25400">
            <a:solidFill>
              <a:srgbClr val="2E86C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1097280"/>
            <a:ext cx="786384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b="1" dirty="0">
                <a:solidFill>
                  <a:srgbClr val="1C1C1E"/>
                </a:solidFill>
              </a:rPr>
              <a:t>로깅 시스템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C1C1E"/>
                </a:solidFill>
              </a:rPr>
              <a:t>모든 서비스: Pino 기반 구조화 로그 (JSON 형식)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C1C1E"/>
                </a:solidFill>
              </a:rPr>
              <a:t>로그 레벨: info, warn, error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C1C1E"/>
                </a:solidFill>
              </a:rPr>
              <a:t>요청별 traceId, spanId 포함 (Jaeger 연동)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b="1" dirty="0">
                <a:solidFill>
                  <a:srgbClr val="1C1C1E"/>
                </a:solidFill>
              </a:rPr>
              <a:t>주요 모니터링 포인트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C1C1E"/>
                </a:solidFill>
              </a:rPr>
              <a:t>export-worker: [export-worker] 잡 시작/완료/실패 로그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C1C1E"/>
                </a:solidFill>
              </a:rPr>
              <a:t>auth-service: 로그인 실패, 토큰 무효화 로그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C1C1E"/>
                </a:solidFill>
              </a:rPr>
              <a:t>eln-service: 상태 전환, NOTE_SIGNED 이벤트 수신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b="1" dirty="0">
                <a:solidFill>
                  <a:srgbClr val="1C1C1E"/>
                </a:solidFill>
              </a:rPr>
              <a:t>감사로그 (비즈니스)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C1C1E"/>
                </a:solidFill>
              </a:rPr>
              <a:t>관리 → 감사로그 페이지에서 모든 활동 추적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C1C1E"/>
                </a:solidFill>
              </a:rPr>
              <a:t>필터: 액션, 사용자, 기간, 엔티티 유형</a:t>
            </a:r>
            <a:endParaRPr lang="en-US" sz="14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2C3E5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097280"/>
            <a:ext cx="18288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2E86C1"/>
                </a:solidFill>
              </a:rPr>
              <a:t>09</a:t>
            </a:r>
            <a:endParaRPr lang="en-US" sz="6000" dirty="0"/>
          </a:p>
        </p:txBody>
      </p:sp>
      <p:sp>
        <p:nvSpPr>
          <p:cNvPr id="3" name="Text 1"/>
          <p:cNvSpPr/>
          <p:nvPr/>
        </p:nvSpPr>
        <p:spPr>
          <a:xfrm>
            <a:off x="731520" y="2560320"/>
            <a:ext cx="76809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</a:rPr>
              <a:t>백업 및 복구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731520" y="3566160"/>
            <a:ext cx="7680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5A5A6"/>
                </a:solidFill>
              </a:rPr>
              <a:t>데이터 영속성 관리</a:t>
            </a:r>
            <a:endParaRPr lang="en-US" sz="14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B4F72"/>
                </a:solidFill>
              </a:rPr>
              <a:t>백업 / 복구 절차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8229600" cy="0"/>
          </a:xfrm>
          <a:prstGeom prst="line">
            <a:avLst/>
          </a:prstGeom>
          <a:noFill/>
          <a:ln w="25400">
            <a:solidFill>
              <a:srgbClr val="2E86C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1097280"/>
            <a:ext cx="786384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b="1" dirty="0">
                <a:solidFill>
                  <a:srgbClr val="1C1C1E"/>
                </a:solidFill>
              </a:rPr>
              <a:t>PostgreSQL 백업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C1C1E"/>
                </a:solidFill>
              </a:rPr>
              <a:t>docker exec labnote-postgres pg_dump -U labnote labnote &gt; backup.sql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C1C1E"/>
                </a:solidFill>
              </a:rPr>
              <a:t>정기 백업: cron으로 일 1회 이상 권장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b="1" dirty="0">
                <a:solidFill>
                  <a:srgbClr val="1C1C1E"/>
                </a:solidFill>
              </a:rPr>
              <a:t>PostgreSQL 복구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C1C1E"/>
                </a:solidFill>
              </a:rPr>
              <a:t>docker exec -i labnote-postgres psql -U labnote labnote &lt; backup.sql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b="1" dirty="0">
                <a:solidFill>
                  <a:srgbClr val="1C1C1E"/>
                </a:solidFill>
              </a:rPr>
              <a:t>MinIO 백업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C1C1E"/>
                </a:solidFill>
              </a:rPr>
              <a:t>mc mirror 또는 볼륨 직접 복사 (minio_data)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b="1" dirty="0">
                <a:solidFill>
                  <a:srgbClr val="1C1C1E"/>
                </a:solidFill>
              </a:rPr>
              <a:t>Redis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C1C1E"/>
                </a:solidFill>
              </a:rPr>
              <a:t>캐시/세션 데이터 — 손실 시 재로그인으로 복구 가능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C1C1E"/>
                </a:solidFill>
              </a:rPr>
              <a:t>AOF 기반 영속화 설정 (기본 활성)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b="1" dirty="0">
                <a:solidFill>
                  <a:srgbClr val="1C1C1E"/>
                </a:solidFill>
              </a:rPr>
              <a:t>Docker 볼륨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C1C1E"/>
                </a:solidFill>
              </a:rPr>
              <a:t>postgres_data, redis_data, minio_data, opensearch_data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C1C1E"/>
                </a:solidFill>
              </a:rPr>
              <a:t>볼륨 백업: docker run --rm -v &lt;vol&gt;:/data -v $(pwd):/backup alpine tar czf /backup/&lt;vol&gt;.tar.gz /data</a:t>
            </a:r>
            <a:endParaRPr lang="en-US" sz="14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2C3E5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097280"/>
            <a:ext cx="18288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2E86C1"/>
                </a:solidFill>
              </a:rPr>
              <a:t>10</a:t>
            </a:r>
            <a:endParaRPr lang="en-US" sz="6000" dirty="0"/>
          </a:p>
        </p:txBody>
      </p:sp>
      <p:sp>
        <p:nvSpPr>
          <p:cNvPr id="3" name="Text 1"/>
          <p:cNvSpPr/>
          <p:nvPr/>
        </p:nvSpPr>
        <p:spPr>
          <a:xfrm>
            <a:off x="731520" y="2560320"/>
            <a:ext cx="76809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</a:rPr>
              <a:t>보안 체크리스트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731520" y="3566160"/>
            <a:ext cx="7680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5A5A6"/>
                </a:solidFill>
              </a:rPr>
              <a:t>운영 환경 보안 필수 사항</a:t>
            </a:r>
            <a:endParaRPr lang="en-US" sz="14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B4F72"/>
                </a:solidFill>
              </a:rPr>
              <a:t>보안 체크리스트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8229600" cy="0"/>
          </a:xfrm>
          <a:prstGeom prst="line">
            <a:avLst/>
          </a:prstGeom>
          <a:noFill/>
          <a:ln w="25400">
            <a:solidFill>
              <a:srgbClr val="2E86C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1097280"/>
            <a:ext cx="786384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b="1" dirty="0">
                <a:solidFill>
                  <a:srgbClr val="E74C3C"/>
                </a:solidFill>
              </a:rPr>
              <a:t>인증/인가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C1C1E"/>
                </a:solidFill>
              </a:rPr>
              <a:t>✅ JWT_SECRET 운영용 강력한 키로 변경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C1C1E"/>
                </a:solidFill>
              </a:rPr>
              <a:t>✅ INTERNAL_SECRET 변경 (서비스 간 통신 인증)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C1C1E"/>
                </a:solidFill>
              </a:rPr>
              <a:t>✅ 초기 비밀번호(Admin1234!) 즉시 변경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C1C1E"/>
                </a:solidFill>
              </a:rPr>
              <a:t>✅ /internal/ 경로 — Gateway에서 외부 접근 차단됨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b="1" dirty="0">
                <a:solidFill>
                  <a:srgbClr val="E74C3C"/>
                </a:solidFill>
              </a:rPr>
              <a:t>데이터 보호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C1C1E"/>
                </a:solidFill>
              </a:rPr>
              <a:t>✅ 모든 쿼리에 orgId 필터 적용 (멀티테넌시)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C1C1E"/>
                </a:solidFill>
              </a:rPr>
              <a:t>✅ .env 파일 Git 커밋 금지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C1C1E"/>
                </a:solidFill>
              </a:rPr>
              <a:t>✅ Prisma ORM 사용 (SQL 인젝션 방지)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C1C1E"/>
                </a:solidFill>
              </a:rPr>
              <a:t>✅ 실행파일 업로드 차단 (BLOCKED_MIME)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b="1" dirty="0">
                <a:solidFill>
                  <a:srgbClr val="1C1C1E"/>
                </a:solidFill>
              </a:rPr>
              <a:t>Rate Limiting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C1C1E"/>
                </a:solidFill>
              </a:rPr>
              <a:t>✅ 글로벌: 200회/분, 인증: 20회/분, 내보내기: 10회/분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C1C1E"/>
                </a:solidFill>
              </a:rPr>
              <a:t>✅ 세션 쿠키: httpOnly, SameSite=Strict</a:t>
            </a:r>
            <a:endParaRPr lang="en-US" sz="14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2C3E5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097280"/>
            <a:ext cx="18288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2E86C1"/>
                </a:solidFill>
              </a:rPr>
              <a:t>11</a:t>
            </a:r>
            <a:endParaRPr lang="en-US" sz="6000" dirty="0"/>
          </a:p>
        </p:txBody>
      </p:sp>
      <p:sp>
        <p:nvSpPr>
          <p:cNvPr id="3" name="Text 1"/>
          <p:cNvSpPr/>
          <p:nvPr/>
        </p:nvSpPr>
        <p:spPr>
          <a:xfrm>
            <a:off x="731520" y="2560320"/>
            <a:ext cx="76809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</a:rPr>
              <a:t>트러블슈팅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731520" y="3566160"/>
            <a:ext cx="7680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5A5A6"/>
                </a:solidFill>
              </a:rPr>
              <a:t>자주 발생하는 문제와 해결 방법</a:t>
            </a:r>
            <a:endParaRPr lang="en-US" sz="14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B4F72"/>
                </a:solidFill>
              </a:rPr>
              <a:t>트러블슈팅 가이드</a:t>
            </a:r>
            <a:endParaRPr lang="en-US" sz="2200" dirty="0"/>
          </a:p>
        </p:txBody>
      </p:sp>
      <p:graphicFrame>
        <p:nvGraphicFramePr>
          <p:cNvPr id="3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1005840"/>
          <a:ext cx="8595360" cy="914400"/>
        </p:xfrm>
        <a:graphic>
          <a:graphicData uri="http://schemas.openxmlformats.org/drawingml/2006/table">
            <a:tbl>
              <a:tblPr/>
              <a:tblGrid>
                <a:gridCol w="2865120"/>
                <a:gridCol w="2865120"/>
                <a:gridCol w="2865120"/>
              </a:tblGrid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증상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5A5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5A5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5A5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5A5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F7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원인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5A5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5A5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5A5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5A5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F7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해결 방법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5A5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5A5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5A5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5A5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F7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서비스 unhealthy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5A5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5A5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5A5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5A5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DB/Redis 미기동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5A5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5A5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5A5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5A5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docker compose ps 확인 → 인프라 먼저 기동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5A5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5A5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5A5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5A5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401 Unauthorized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5A5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5A5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5A5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5A5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토큰 만료/블랙리스트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5A5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5A5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5A5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5A5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재로그인 또는 역할 변경 여부 확인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5A5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5A5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5A5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5A5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403 Forbidden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5A5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5A5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5A5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5A5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권한 부족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5A5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5A5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5A5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5A5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사용자 역할/권한 확인 (관리 → 역할)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5A5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5A5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5A5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5A5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검색 결과 없음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5A5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5A5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5A5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5A5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OpenSearch 인덱스 미동기화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5A5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5A5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5A5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5A5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POST /api/search/index/bulk 로 재인덱싱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5A5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5A5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5A5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5A5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파일 업로드 실패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5A5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5A5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5A5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5A5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MinIO 미기동/용량 초과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5A5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5A5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5A5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5A5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MinIO 콘솔(9001) 확인, 디스크 용량 확인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5A5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5A5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5A5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5A5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내보내기 실패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5A5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5A5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5A5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5A5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Puppeteer/메모리 부족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5A5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5A5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5A5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5A5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signature-audit 로그 확인, 컨테이너 메모리 증설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5A5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5A5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5A5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5A5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WebSocket 연결 실패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5A5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5A5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5A5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5A5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collab-service 다운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5A5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5A5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5A5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5A5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docker compose restart collab-service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5A5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5A5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5A5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5A5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상태 전환 오류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5A5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5A5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5A5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5A5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DB 트리거 차단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5A5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5A5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5A5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5A5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허용된 전환인지 확인 (상태 흐름도 참조)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5A5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5A5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5A5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5A5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B4F72"/>
                </a:solidFill>
              </a:rPr>
              <a:t>로그 확인 방법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8229600" cy="0"/>
          </a:xfrm>
          <a:prstGeom prst="line">
            <a:avLst/>
          </a:prstGeom>
          <a:noFill/>
          <a:ln w="25400">
            <a:solidFill>
              <a:srgbClr val="2E86C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1097280"/>
            <a:ext cx="786384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b="1" dirty="0">
                <a:solidFill>
                  <a:srgbClr val="1C1C1E"/>
                </a:solidFill>
              </a:rPr>
              <a:t>특정 서비스 로그 확인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C1C1E"/>
                </a:solidFill>
              </a:rPr>
              <a:t>docker compose logs -f labnote-auth      — 인증 서비스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C1C1E"/>
                </a:solidFill>
              </a:rPr>
              <a:t>docker compose logs -f labnote-eln       — 연구노트 서비스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C1C1E"/>
                </a:solidFill>
              </a:rPr>
              <a:t>docker compose logs -f labnote-signature — 전자서명/내보내기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C1C1E"/>
                </a:solidFill>
              </a:rPr>
              <a:t>docker compose logs -f labnote-gateway   — API Gateway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b="1" dirty="0">
                <a:solidFill>
                  <a:srgbClr val="1C1C1E"/>
                </a:solidFill>
              </a:rPr>
              <a:t>에러 로그만 필터링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C1C1E"/>
                </a:solidFill>
              </a:rPr>
              <a:t>docker compose logs &lt;서비스&gt; | grep "level":50" — error 레벨만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b="1" dirty="0">
                <a:solidFill>
                  <a:srgbClr val="1C1C1E"/>
                </a:solidFill>
              </a:rPr>
              <a:t>DB 직접 확인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C1C1E"/>
                </a:solidFill>
              </a:rPr>
              <a:t>docker exec labnote-postgres psql -U labnote -d labnote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C1C1E"/>
                </a:solidFill>
              </a:rPr>
              <a:t>SET search_path TO auth;  — 스키마 전환 후 쿼리</a:t>
            </a:r>
            <a:endParaRPr lang="en-US" sz="14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1B4F7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828800"/>
            <a:ext cx="76809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</a:rPr>
              <a:t>감사합니다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731520" y="3474720"/>
            <a:ext cx="7680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6EAF8"/>
                </a:solidFill>
              </a:rPr>
              <a:t>LabNote ELN 운영자 매뉴얼 v1.0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32</Slides>
  <Notes>32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32</vt:i4>
      </vt:variant>
    </vt:vector>
  </HeadingPairs>
  <TitlesOfParts>
    <vt:vector size="3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LabNote ELN 운영자 매뉴얼</dc:title>
  <dc:subject>운영자 매뉴얼</dc:subject>
  <dc:creator>LabNote ELN</dc:creator>
  <cp:lastModifiedBy>LabNote ELN</cp:lastModifiedBy>
  <cp:revision>1</cp:revision>
  <dcterms:created xsi:type="dcterms:W3CDTF">2026-03-26T06:44:35Z</dcterms:created>
  <dcterms:modified xsi:type="dcterms:W3CDTF">2026-03-26T06:44:35Z</dcterms:modified>
</cp:coreProperties>
</file>