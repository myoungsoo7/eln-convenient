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E40AF"/>
              </a:gs>
              <a:gs pos="100000">
                <a:srgbClr val="0E2A6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설계단계 완료보고서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3C5FD"/>
                </a:solidFill>
                <a:latin typeface="맑은 고딕"/>
              </a:defRPr>
            </a:pPr>
            <a:r>
              <a:t>Design Phase Completion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LabNote ELN 프로젝트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3C5FD"/>
                </a:solidFill>
                <a:latin typeface="맑은 고딕"/>
              </a:defRPr>
            </a:pPr>
            <a:r>
              <a:t>2026-03-25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772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1. 설계 결과 요약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097280"/>
          <a:ext cx="109728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229600"/>
              </a:tblGrid>
              <a:tr h="3200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내용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설계 기간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3주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산출물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아키텍처 설계서, ERD, API 명세서(8개 서비스 OpenAPI), 인터페이스 정의서, 프로그램 목록, 프로세스 정의서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서비스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9개 백엔드 + 2개 프론트엔드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DB 스키마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7개 (auth, eln, signature, inventory, scheduler, search, file)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API 엔드포인트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144개 (전체 서비스 합산)</a:t>
                      </a:r>
                    </a:p>
                  </a:txBody>
                  <a:tcPr/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통신 패턴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HTTP(동기), Redis Stream(비동기), Pub/Sub(실시간), BullMQ(큐), WebSocket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772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2. 아키텍처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맑은 고딕"/>
              </a:defRPr>
            </a:pPr>
            <a:r>
              <a:t>MSA 기반 9개 서비스, API Gateway 중앙 라우팅, Redis 기반 이벤트/캐시/큐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645920"/>
            <a:ext cx="1188720" cy="10972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737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40AF"/>
                </a:solidFill>
                <a:latin typeface="맑은 고딕"/>
              </a:defRPr>
            </a:pPr>
            <a:r>
              <a:t>gateway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1488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JWT,프록시,SSE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81912" y="1645920"/>
            <a:ext cx="1188720" cy="10972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1737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40AF"/>
                </a:solidFill>
                <a:latin typeface="맑은 고딕"/>
              </a:defRPr>
            </a:pPr>
            <a:r>
              <a:t>auth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21488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인증,RBAC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9504" y="1645920"/>
            <a:ext cx="1188720" cy="10972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35224" y="1737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40AF"/>
                </a:solidFill>
                <a:latin typeface="맑은 고딕"/>
              </a:defRPr>
            </a:pPr>
            <a:r>
              <a:t>eln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35224" y="21488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노트,템플릿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97096" y="1645920"/>
            <a:ext cx="1188720" cy="10972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42816" y="1737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40AF"/>
                </a:solidFill>
                <a:latin typeface="맑은 고딕"/>
              </a:defRPr>
            </a:pPr>
            <a:r>
              <a:t>sig-audit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42816" y="21488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서명,감사,PDF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04688" y="1645920"/>
            <a:ext cx="1188720" cy="10972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50408" y="1737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40AF"/>
                </a:solidFill>
                <a:latin typeface="맑은 고딕"/>
              </a:defRPr>
            </a:pPr>
            <a:r>
              <a:t>inventory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50408" y="21488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시약/장비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12279" y="1645920"/>
            <a:ext cx="1188720" cy="10972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7999" y="1737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40AF"/>
                </a:solidFill>
                <a:latin typeface="맑은 고딕"/>
              </a:defRPr>
            </a:pPr>
            <a:r>
              <a:t>scheduler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7999" y="21488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예약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9872" y="1645920"/>
            <a:ext cx="1188720" cy="10972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65592" y="1737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40AF"/>
                </a:solidFill>
                <a:latin typeface="맑은 고딕"/>
              </a:defRPr>
            </a:pPr>
            <a:r>
              <a:t>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5592" y="21488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통합검색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27464" y="1645920"/>
            <a:ext cx="1188720" cy="10972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73184" y="1737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40AF"/>
                </a:solidFill>
                <a:latin typeface="맑은 고딕"/>
              </a:defRPr>
            </a:pPr>
            <a:r>
              <a:t>file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73184" y="21488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파일관리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735056" y="1645920"/>
            <a:ext cx="1188720" cy="10972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80776" y="1737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40AF"/>
                </a:solidFill>
                <a:latin typeface="맑은 고딕"/>
              </a:defRPr>
            </a:pPr>
            <a:r>
              <a:t>collab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0776" y="21488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실시간협업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772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3. 데이터 모델 요약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09728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572000"/>
                <a:gridCol w="457200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스키마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주요 테이블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레코드 관계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Organization, Role, User, Team, TeamMember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Org→User, Role→User, Team↔User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eln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Note, NoteRevision, Attachment, NoteLink, Template, Code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Note→Revision, Note→Attachment, Note→Link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signature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Signature, AuditLog, ExportJob, Notification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Signature→Note (해시체인)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inventory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InventoryItem, InventoryHistory, Category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Item→History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scheduler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Resource, Booking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Resource→Booking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search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SearchHistory, Favorite, SearchKeywordFavorite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독립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File, ExportJob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ExportJob→File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772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4. 설계 주요 결정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맑은 고딕"/>
              </a:defRPr>
            </a:pPr>
            <a:r>
              <a:t>• Fastify 전 서비스 통일 (Express 대비 2~3배 처리량)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맑은 고딕"/>
              </a:defRPr>
            </a:pPr>
            <a:r>
              <a:t>• 단일 PostgreSQL + Prisma 서비스별 스키마 분리 (운영 단순화)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맑은 고딕"/>
              </a:defRPr>
            </a:pPr>
            <a:r>
              <a:t>• Redis Stream for 서명→상태전환 (HTTP 폴백 포함, 최소 1회 보장)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맑은 고딕"/>
              </a:defRPr>
            </a:pPr>
            <a:r>
              <a:t>• BullMQ for PDF 내보내기 (non-blocking, 재시도 3회)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맑은 고딕"/>
              </a:defRPr>
            </a:pPr>
            <a:r>
              <a:t>• OpenSearch + nori for 한국어 통합 검색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맑은 고딕"/>
              </a:defRPr>
            </a:pPr>
            <a:r>
              <a:t>• WebSocket + Redis Pub/Sub for 다중 인스턴스 실시간 협업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맑은 고딕"/>
              </a:defRPr>
            </a:pPr>
            <a:r>
              <a:t>• JWT 듀얼 검증 (jose JWKS + 로컬 시크릿, SSO 선택 지원)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